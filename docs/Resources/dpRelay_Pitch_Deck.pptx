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068884"/>
            <a:ext cx="571500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70391" y="1920776"/>
            <a:ext cx="520321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spc="2" kern="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DPRELAY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1970391" y="2620863"/>
            <a:ext cx="5203217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86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Revolutionizing OTP &amp; Bulk SMS in Bangladesh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970391" y="3169146"/>
            <a:ext cx="520321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Hardware-Authenticated Delivery for Unmatched Reliability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970391" y="3804940"/>
            <a:ext cx="5203217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dpRelay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PROBLEM: UNRELIABLE SMS GATEWAYS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32284"/>
            <a:ext cx="3857625" cy="1770255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907381"/>
            <a:ext cx="3429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514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 Delivery Rates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5813" y="2257425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gateways often get blocked by carriers due to shared, generic numbers and suspicious routing.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714875" y="1132284"/>
            <a:ext cx="3857625" cy="1770255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8" y="1444823"/>
            <a:ext cx="214313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29188" y="1907381"/>
            <a:ext cx="3429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514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Slow OTP Speeds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929188" y="2257425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codes arrive too late or not at all, leading to high user drop-off and frustration.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71500" y="3188289"/>
            <a:ext cx="3857625" cy="1955211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3500828"/>
            <a:ext cx="250031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5813" y="3963386"/>
            <a:ext cx="3429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514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Inconsistent Sender IDs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85813" y="4313430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see random, untrusted numbers, which reduces brand credibility and user trust.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714875" y="3188289"/>
            <a:ext cx="3857625" cy="1955211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3507972"/>
            <a:ext cx="321469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29188" y="3970530"/>
            <a:ext cx="3429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514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 Costs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929188" y="4320573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routing and complex per-request fee structures make traditional services expensive for local businesses.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SOLUTION: DPRELAY'S UNIQUE ARCHITECTURE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41" y="2477988"/>
            <a:ext cx="964406" cy="1285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5262" y="4128195"/>
            <a:ext cx="302716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386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Hardware-Authenticated Delivery</a:t>
            </a:r>
            <a:endParaRPr lang="en-US" sz="1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3" y="1978819"/>
            <a:ext cx="228600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336256" y="1921669"/>
            <a:ext cx="423624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Direct SIM Connection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4336256" y="2235994"/>
            <a:ext cx="42362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Bypasses unreliable third-party aggregator gateways by sending directly from dedicated Android devices.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3" y="2928938"/>
            <a:ext cx="257175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364831" y="2871788"/>
            <a:ext cx="420766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Consistent Sender ID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4364831" y="3186113"/>
            <a:ext cx="42076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message comes from your own dedicated number, building trust and brand recognition.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3" y="3879056"/>
            <a:ext cx="17145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279106" y="3821906"/>
            <a:ext cx="429339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Built for Bangladesh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4279106" y="4136231"/>
            <a:ext cx="42933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for local carriers, character sets, and payment methods like bKash.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HOW IT WORKS: SIMPLE &amp; SECURE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285875" y="1275159"/>
            <a:ext cx="428625" cy="428625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5" name="Text 2"/>
          <p:cNvSpPr/>
          <p:nvPr/>
        </p:nvSpPr>
        <p:spPr>
          <a:xfrm>
            <a:off x="1285875" y="1275159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594" y="1916311"/>
            <a:ext cx="357188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974" y="2457450"/>
            <a:ext cx="169842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Dedicated Hardware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71500" y="2950369"/>
            <a:ext cx="1857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your own Android device as a trusted hardware anchor for SMS delivery.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333759" y="1275159"/>
            <a:ext cx="428625" cy="428625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0" name="Text 6"/>
          <p:cNvSpPr/>
          <p:nvPr/>
        </p:nvSpPr>
        <p:spPr>
          <a:xfrm>
            <a:off x="3333759" y="1275159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830" y="1916311"/>
            <a:ext cx="446484" cy="3571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47079" y="2457450"/>
            <a:ext cx="160198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Developer-First API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2619384" y="2950369"/>
            <a:ext cx="1857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in minutes using our RESTful API, SDKs, and ready-to-copy code examples.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381644" y="1275159"/>
            <a:ext cx="428625" cy="428625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5" name="Text 10"/>
          <p:cNvSpPr/>
          <p:nvPr/>
        </p:nvSpPr>
        <p:spPr>
          <a:xfrm>
            <a:off x="5381644" y="1275159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62" y="1916311"/>
            <a:ext cx="357188" cy="357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54805" y="2457450"/>
            <a:ext cx="128230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 Playground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667269" y="2950369"/>
            <a:ext cx="1857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your credentials and functionality live in the dashboard before going to production.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7429528" y="1275159"/>
            <a:ext cx="428625" cy="428625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20" name="Text 14"/>
          <p:cNvSpPr/>
          <p:nvPr/>
        </p:nvSpPr>
        <p:spPr>
          <a:xfrm>
            <a:off x="7429528" y="1275159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571" y="1916311"/>
            <a:ext cx="312539" cy="3571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70517" y="2457450"/>
            <a:ext cx="174664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Webhooks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715153" y="2950369"/>
            <a:ext cx="1857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instant delivery reports and verification callbacks via signed HMAC payloads.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DIFFERENTIATOR: HARDWARE ADVANTAGE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964406" y="1951137"/>
            <a:ext cx="428625" cy="428625"/>
          </a:xfrm>
          <a:prstGeom prst="rect">
            <a:avLst/>
          </a:prstGeom>
          <a:solidFill>
            <a:srgbClr val="161B22"/>
          </a:solidFill>
          <a:ln w="18288">
            <a:solidFill>
              <a:srgbClr val="238636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994" y="2079724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5906" y="1951137"/>
            <a:ext cx="30003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Trusted Hardware Anchor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535906" y="2217241"/>
            <a:ext cx="3000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just another cloud gateway. Every message is physically sent from a dedicated device you control.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964406" y="2881610"/>
            <a:ext cx="428625" cy="428625"/>
          </a:xfrm>
          <a:prstGeom prst="rect">
            <a:avLst/>
          </a:prstGeom>
          <a:solidFill>
            <a:srgbClr val="161B22"/>
          </a:solidFill>
          <a:ln w="18288">
            <a:solidFill>
              <a:srgbClr val="238636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3" y="3010198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5906" y="2881610"/>
            <a:ext cx="30003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Shared Infrastructure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1535906" y="3147715"/>
            <a:ext cx="3000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the risk of being flagged as spam due to the poor reputation of shared gateway numbers.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964406" y="3812084"/>
            <a:ext cx="428625" cy="428625"/>
          </a:xfrm>
          <a:prstGeom prst="rect">
            <a:avLst/>
          </a:prstGeom>
          <a:solidFill>
            <a:srgbClr val="161B22"/>
          </a:solidFill>
          <a:ln w="18288">
            <a:solidFill>
              <a:srgbClr val="238636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94" y="3940671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5906" y="3812084"/>
            <a:ext cx="30003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Scalable Throughput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535906" y="4078188"/>
            <a:ext cx="3000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more volume? Simply add more devices to your account to increase sending capacity instantly.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088" y="2557463"/>
            <a:ext cx="964406" cy="8572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709642" y="3657600"/>
            <a:ext cx="23752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2386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HARDWARE CONTROL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5614988" y="3973711"/>
            <a:ext cx="25646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own the device. You own the SIM. You own the delivery.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FEATURES: BUILT FOR BUSINESS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56" y="1378744"/>
            <a:ext cx="257175" cy="2571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2956" y="1773436"/>
            <a:ext cx="34504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Separate Credit Pools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792956" y="2053828"/>
            <a:ext cx="34504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buckets for OTP and Bulk SMS. Ensure critical verification messages are never delayed by high-volume marketing campaigns.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3" y="1378744"/>
            <a:ext cx="257175" cy="2571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00613" y="1773436"/>
            <a:ext cx="34504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Per-App API Keys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900613" y="2053828"/>
            <a:ext cx="34504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multiple apps under one account. Manage different clients, environments (dev/prod), or services with unique credentials and webhooks.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56" y="3491508"/>
            <a:ext cx="257175" cy="2571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2956" y="3886200"/>
            <a:ext cx="34504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Fine-Grained Rate Limiting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792956" y="4166592"/>
            <a:ext cx="34504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your system and users from abuse. Set custom limits per phone number or application to prevent spam and control costs.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613" y="3491508"/>
            <a:ext cx="257175" cy="2571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00613" y="3886200"/>
            <a:ext cx="345043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Bulk Campaign Manager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900613" y="4166592"/>
            <a:ext cx="34504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CSV lists, schedule sends, and track real-time progress. A powerful tool for promotions, alerts, and customer engagement.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MARKET OPPORTUNITY: BANGLADESH &amp; BEYOND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78756"/>
            <a:ext cx="2857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386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Rising Verification Demand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0" y="1887736"/>
            <a:ext cx="2857500" cy="2143125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30611"/>
            <a:ext cx="2843213" cy="19859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4138017"/>
            <a:ext cx="28575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OTP Volume Growth (Index)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188818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86225" y="1831032"/>
            <a:ext cx="44862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Growing Digital Economy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086225" y="2097137"/>
            <a:ext cx="448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digitization across Bangladesh is driving an exponential increase in the need for secure user authentication and phone verification.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2992338"/>
            <a:ext cx="257175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14800" y="2935188"/>
            <a:ext cx="44577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E-commerce &amp; Fintech Boom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114800" y="3201293"/>
            <a:ext cx="4457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infrastructure for the booming e-commerce, ride-hailing, and mobile financial services (MFS) sectors requiring 99.9% reliability.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0" y="4096494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086225" y="4039344"/>
            <a:ext cx="44862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Significant Local Market Gap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4086225" y="4305449"/>
            <a:ext cx="448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providers are often unreliable or prohibitively expensive, leaving a massive opening for a hardware-backed, developer-first solution.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COMPETITIVE LANDSCAPE: WHY DPRELAY WINS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464469"/>
            <a:ext cx="8001000" cy="3093244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5072" y="1468041"/>
            <a:ext cx="2143125" cy="514350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5072" y="1468041"/>
            <a:ext cx="2143125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18197" y="1468041"/>
            <a:ext cx="1280629" cy="514350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18197" y="1468041"/>
            <a:ext cx="1280629" cy="514350"/>
          </a:xfrm>
          <a:prstGeom prst="rect">
            <a:avLst/>
          </a:prstGeom>
          <a:noFill/>
          <a:ln/>
        </p:spPr>
        <p:txBody>
          <a:bodyPr wrap="non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DPRELAY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95477" y="1468041"/>
            <a:ext cx="2333858" cy="514350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95477" y="1468041"/>
            <a:ext cx="2333858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GLOBAL GATEWAYS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26070" y="1468041"/>
            <a:ext cx="2242858" cy="514350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6070" y="1468041"/>
            <a:ext cx="2242858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LOCAL PROVIDERS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5072" y="1978819"/>
            <a:ext cx="2143125" cy="514350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5072" y="1978819"/>
            <a:ext cx="2143125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Speed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18197" y="1978819"/>
            <a:ext cx="1277671" cy="514350"/>
          </a:xfrm>
          <a:prstGeom prst="rect">
            <a:avLst/>
          </a:prstGeom>
          <a:noFill/>
          <a:ln/>
        </p:spPr>
        <p:txBody>
          <a:bodyPr wrap="non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~2-5 Seconds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995868" y="1978819"/>
            <a:ext cx="2333830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5-15 Seconds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29697" y="1978819"/>
            <a:ext cx="2239231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10-30 Seconds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5072" y="2493169"/>
            <a:ext cx="2143125" cy="514350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5072" y="2493169"/>
            <a:ext cx="2143125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Sender ID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18197" y="2493169"/>
            <a:ext cx="1277671" cy="514350"/>
          </a:xfrm>
          <a:prstGeom prst="rect">
            <a:avLst/>
          </a:prstGeom>
          <a:noFill/>
          <a:ln/>
        </p:spPr>
        <p:txBody>
          <a:bodyPr wrap="non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995868" y="2493169"/>
            <a:ext cx="2333830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Changes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329697" y="2493169"/>
            <a:ext cx="2239231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/ None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75072" y="3007519"/>
            <a:ext cx="2143125" cy="514350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5072" y="3007519"/>
            <a:ext cx="2143125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Payment (bKash)</a:t>
            </a:r>
            <a:endParaRPr lang="en-US" sz="8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307" y="3226296"/>
            <a:ext cx="171450" cy="17145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204" y="3226296"/>
            <a:ext cx="107156" cy="17145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588" y="3226296"/>
            <a:ext cx="171450" cy="17145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75072" y="3521869"/>
            <a:ext cx="2143125" cy="514350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75072" y="3521869"/>
            <a:ext cx="2143125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Webhooks</a:t>
            </a:r>
            <a:endParaRPr lang="en-US" sz="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307" y="3740646"/>
            <a:ext cx="171450" cy="171450"/>
          </a:xfrm>
          <a:prstGeom prst="rect">
            <a:avLst/>
          </a:prstGeom>
        </p:spPr>
      </p:pic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7058" y="3740646"/>
            <a:ext cx="171450" cy="17145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5735" y="3740646"/>
            <a:ext cx="107156" cy="17145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75072" y="4036219"/>
            <a:ext cx="2143125" cy="514350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575072" y="4036219"/>
            <a:ext cx="2143125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Control</a:t>
            </a:r>
            <a:endParaRPr lang="en-US" sz="800" dirty="0"/>
          </a:p>
        </p:txBody>
      </p:sp>
      <p:sp>
        <p:nvSpPr>
          <p:cNvPr id="35" name="Text 26"/>
          <p:cNvSpPr/>
          <p:nvPr/>
        </p:nvSpPr>
        <p:spPr>
          <a:xfrm>
            <a:off x="2714625" y="4036219"/>
            <a:ext cx="1278452" cy="514350"/>
          </a:xfrm>
          <a:prstGeom prst="rect">
            <a:avLst/>
          </a:prstGeom>
          <a:noFill/>
          <a:ln/>
        </p:spPr>
        <p:txBody>
          <a:bodyPr wrap="non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Control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3993077" y="4036219"/>
            <a:ext cx="2335253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Only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6328330" y="4036219"/>
            <a:ext cx="2240598" cy="514350"/>
          </a:xfrm>
          <a:prstGeom prst="rect">
            <a:avLst/>
          </a:prstGeom>
          <a:noFill/>
          <a:ln/>
        </p:spPr>
        <p:txBody>
          <a:bodyPr wrap="square" lIns="170053" tIns="119126" rIns="170053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Only</a:t>
            </a:r>
            <a:endParaRPr lang="en-US" sz="850" dirty="0"/>
          </a:p>
        </p:txBody>
      </p:sp>
      <p:sp>
        <p:nvSpPr>
          <p:cNvPr id="38" name="Text 29"/>
          <p:cNvSpPr/>
          <p:nvPr/>
        </p:nvSpPr>
        <p:spPr>
          <a:xfrm>
            <a:off x="0" y="4639866"/>
            <a:ext cx="9144000" cy="346472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dpRelay combines the technical sophistication of global platforms with the local reliability and payment integration required for the Bangladesh market.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TRACTION &amp; MILESTONES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702891" y="1523405"/>
            <a:ext cx="1737717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150" b="1" dirty="0">
                <a:solidFill>
                  <a:srgbClr val="2386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99.9%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2123480" y="2291358"/>
            <a:ext cx="89654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2" kern="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UPTIME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2487" y="2605683"/>
            <a:ext cx="249852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reliability for mission-critical apps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036469" y="1523405"/>
            <a:ext cx="1071563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150" b="1" dirty="0">
                <a:solidFill>
                  <a:srgbClr val="2386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50+</a:t>
            </a:r>
            <a:endParaRPr lang="en-US" sz="4150" dirty="0"/>
          </a:p>
        </p:txBody>
      </p:sp>
      <p:sp>
        <p:nvSpPr>
          <p:cNvPr id="8" name="Text 5"/>
          <p:cNvSpPr/>
          <p:nvPr/>
        </p:nvSpPr>
        <p:spPr>
          <a:xfrm>
            <a:off x="5473005" y="2291358"/>
            <a:ext cx="219848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2" kern="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APPS INTEGRATED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74779" y="2605683"/>
            <a:ext cx="239494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ecosystem of local developers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015430" y="3457575"/>
            <a:ext cx="1112639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150" b="1" dirty="0">
                <a:solidFill>
                  <a:srgbClr val="2386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1M+</a:t>
            </a:r>
            <a:endParaRPr lang="en-US" sz="4150" dirty="0"/>
          </a:p>
        </p:txBody>
      </p:sp>
      <p:sp>
        <p:nvSpPr>
          <p:cNvPr id="11" name="Text 8"/>
          <p:cNvSpPr/>
          <p:nvPr/>
        </p:nvSpPr>
        <p:spPr>
          <a:xfrm>
            <a:off x="1555552" y="4225528"/>
            <a:ext cx="203239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2" kern="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OTPS DELIVERED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93899" y="4539853"/>
            <a:ext cx="275570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handling high message volumes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43588" y="3457575"/>
            <a:ext cx="1457325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150" b="1" dirty="0">
                <a:solidFill>
                  <a:srgbClr val="2386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200+</a:t>
            </a:r>
            <a:endParaRPr lang="en-US" sz="4150" dirty="0"/>
          </a:p>
        </p:txBody>
      </p:sp>
      <p:sp>
        <p:nvSpPr>
          <p:cNvPr id="14" name="Text 11"/>
          <p:cNvSpPr/>
          <p:nvPr/>
        </p:nvSpPr>
        <p:spPr>
          <a:xfrm>
            <a:off x="5348883" y="4225528"/>
            <a:ext cx="244673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2" kern="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HAPPY DEVELOPERS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254228" y="4539853"/>
            <a:ext cx="26360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by the Bangladesh tech community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MODEL: PAY-AS-YOU-GO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069" y="1457325"/>
            <a:ext cx="257175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0150" y="1982391"/>
            <a:ext cx="12430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OTP Credits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096566" y="2332434"/>
            <a:ext cx="1450181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BDT / OTP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92956" y="278784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High-reliability transactional verification. No subscriptions, no hidden fees. Pay only for what you use.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8" y="1457325"/>
            <a:ext cx="428625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79974" y="1982391"/>
            <a:ext cx="98405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Bulk SMS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3704034" y="2332434"/>
            <a:ext cx="1735931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Based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3543300" y="278784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Cost-optimized marketing campaigns. Competitive rates starting from 0.35 BDT for high-volume sends.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031" y="1457325"/>
            <a:ext cx="428625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63358" y="1982391"/>
            <a:ext cx="91797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Free Tier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495455" y="2332434"/>
            <a:ext cx="165377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Free OTPs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293644" y="2787848"/>
            <a:ext cx="2057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started instantly with 50 free credits to test our API and hardware delivery system.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0" y="4645223"/>
            <a:ext cx="9144000" cy="49827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0" y="4645223"/>
            <a:ext cx="914400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Text 12"/>
          <p:cNvSpPr/>
          <p:nvPr/>
        </p:nvSpPr>
        <p:spPr>
          <a:xfrm>
            <a:off x="826889" y="4918472"/>
            <a:ext cx="23824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LOCAL PAYMENTS SUPPORTED:</a:t>
            </a:r>
            <a:endParaRPr lang="en-US" sz="10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642" y="4888111"/>
            <a:ext cx="17145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595092" y="4866680"/>
            <a:ext cx="7429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bKash</a:t>
            </a:r>
            <a:endParaRPr lang="en-US" sz="17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792" y="4888111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852392" y="4866680"/>
            <a:ext cx="15716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Transfer</a:t>
            </a:r>
            <a:endParaRPr lang="en-US" sz="17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9767" y="4888111"/>
            <a:ext cx="257175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66942" y="4866680"/>
            <a:ext cx="135016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Cards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TEAM &amp; THE FUTURE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132284"/>
            <a:ext cx="35718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1" kern="0" dirty="0">
                <a:solidFill>
                  <a:srgbClr val="2386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EXPERTISE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41277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394" y="1589484"/>
            <a:ext cx="32789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Technical Roots: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Decades of combined 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in software engineering and hardware 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4233"/>
            <a:ext cx="192881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7256" y="2382441"/>
            <a:ext cx="32361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Market Insight: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Unmatched understanding of 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Bangladesh's carrier landscape and regulatory 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environment.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27189"/>
            <a:ext cx="214313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28688" y="3175397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Developer-Centric: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Committed to building the best </a:t>
            </a:r>
            <a:r>
              <a:rPr lang="en-US" sz="95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experience (DX) for the local ecosystem.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5007769" y="1132284"/>
            <a:ext cx="356473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1" kern="0" dirty="0">
                <a:solidFill>
                  <a:srgbClr val="23863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ROADMAP 2026-2027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5293519" y="1589484"/>
            <a:ext cx="32789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Q3 2026</a:t>
            </a:r>
            <a:endParaRPr lang="en-US" sz="750" dirty="0"/>
          </a:p>
        </p:txBody>
      </p:sp>
      <p:sp>
        <p:nvSpPr>
          <p:cNvPr id="13" name="Text 7"/>
          <p:cNvSpPr/>
          <p:nvPr/>
        </p:nvSpPr>
        <p:spPr>
          <a:xfrm>
            <a:off x="5293519" y="1746647"/>
            <a:ext cx="327898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Automated bKash API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5293519" y="1994892"/>
            <a:ext cx="327898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Streamlining credit top-ups with instant, automated payment verification.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5293519" y="2555677"/>
            <a:ext cx="32789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Q4 2026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5293519" y="2712839"/>
            <a:ext cx="327898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Advanced Analytics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293519" y="2961084"/>
            <a:ext cx="327898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insights into delivery rates, latency, and user behavior patterns.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5293519" y="3521869"/>
            <a:ext cx="32789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Q1 2027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5293519" y="3679031"/>
            <a:ext cx="327898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Regional Expansion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293519" y="3927277"/>
            <a:ext cx="327898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our hardware-backed model to other emerging markets in South Asia.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705445"/>
            <a:ext cx="571500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15430" y="1557338"/>
            <a:ext cx="511313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850" b="1" spc="2" kern="0" dirty="0">
                <a:solidFill>
                  <a:srgbClr val="58A6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JOIN THE REVOLUTION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2015430" y="2259211"/>
            <a:ext cx="5113139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863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to experience reliable SMS delivery?</a:t>
            </a:r>
            <a:endParaRPr lang="en-US" sz="16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782" y="2971800"/>
            <a:ext cx="200025" cy="2000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56682" y="2950369"/>
            <a:ext cx="257353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dprelay.digital-papyrus.xyz</a:t>
            </a:r>
            <a:endParaRPr lang="en-US" sz="15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670" y="3393281"/>
            <a:ext cx="200025" cy="2000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699570" y="3371850"/>
            <a:ext cx="208776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support@dprelay.com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2015430" y="4186238"/>
            <a:ext cx="5113139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your free trial today with 50 free OTPs. No credit card required.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2026-05-21T10:17:09Z</dcterms:created>
  <dcterms:modified xsi:type="dcterms:W3CDTF">2026-05-21T10:17:09Z</dcterms:modified>
</cp:coreProperties>
</file>